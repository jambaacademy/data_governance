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31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TOOLKIT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Guiding People Through Data Governance Transformation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70332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toolkit for project teams to plan, execute, and sustain adoption of new data governance processes.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3F5BD9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0" y="4389120"/>
            <a:ext cx="1280160" cy="1280160"/>
          </a:xfrm>
          <a:prstGeom prst="ellipse">
            <a:avLst/>
          </a:prstGeom>
          <a:solidFill>
            <a:srgbClr val="CADCFC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9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03_Implementation_Resources / Project_Management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Fails Without Adoption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and policy alone do not change behavior. Sustainable data governance requires deliberate, structured change management alongside every implementation milestone.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7432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transformation initiatives fail to meet objectives without structured change management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5146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7432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6x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0" y="38862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likely to meet objectives when change management is applied effectively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251460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046720" y="27432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321040" y="3886200"/>
            <a:ext cx="29260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consecutive phases of resistance every governance rollout must plan for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Implementation Resources  |  Change Management Toolkit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ADKAR Adoption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ADKAR to diagnose where individuals are in the change journey and target interventions accordingly.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61872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2066544" cy="260604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375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38404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governance is changing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15184" y="3520440"/>
            <a:ext cx="201168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3511296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798064" y="3154680"/>
            <a:ext cx="2066544" cy="260604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14" name="Text 12"/>
          <p:cNvSpPr/>
          <p:nvPr/>
        </p:nvSpPr>
        <p:spPr>
          <a:xfrm>
            <a:off x="2889504" y="33375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62656" y="38404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motivation to support the change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64608" y="3520440"/>
            <a:ext cx="201168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0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5047488" y="3154680"/>
            <a:ext cx="2066544" cy="260604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5138928" y="33375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212080" y="38404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operate under new processes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14032" y="3520440"/>
            <a:ext cx="201168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8010144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010144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296912" y="3154680"/>
            <a:ext cx="2066544" cy="260604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26" name="Text 24"/>
          <p:cNvSpPr/>
          <p:nvPr/>
        </p:nvSpPr>
        <p:spPr>
          <a:xfrm>
            <a:off x="7388352" y="33375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61504" y="38404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Demonstrated skill in new ways of working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63456" y="3520440"/>
            <a:ext cx="201168" cy="22860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59568" y="21488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10259568" y="21488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9546336" y="3154680"/>
            <a:ext cx="2066544" cy="2606040"/>
          </a:xfrm>
          <a:prstGeom prst="roundRect">
            <a:avLst>
              <a:gd name="adj" fmla="val 3540"/>
            </a:avLst>
          </a:prstGeom>
          <a:solidFill>
            <a:srgbClr val="F4F6FC"/>
          </a:solidFill>
          <a:ln/>
        </p:spPr>
      </p:sp>
      <p:sp>
        <p:nvSpPr>
          <p:cNvPr id="32" name="Text 30"/>
          <p:cNvSpPr/>
          <p:nvPr/>
        </p:nvSpPr>
        <p:spPr>
          <a:xfrm>
            <a:off x="9637776" y="3337560"/>
            <a:ext cx="1883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10928" y="384048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adoption over time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Implementation Resources  |  Change Management Toolkit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Your Stakeholders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stakeholders by influence and current support level to prioritize engagement effort.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60320" cy="1965960"/>
          </a:xfrm>
          <a:prstGeom prst="rect">
            <a:avLst/>
          </a:prstGeom>
          <a:solidFill>
            <a:srgbClr val="E8EC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0" y="2103120"/>
            <a:ext cx="2560320" cy="1965960"/>
          </a:xfrm>
          <a:prstGeom prst="rect">
            <a:avLst/>
          </a:prstGeom>
          <a:solidFill>
            <a:srgbClr val="CADC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4069080"/>
            <a:ext cx="2560320" cy="1965960"/>
          </a:xfrm>
          <a:prstGeom prst="rect">
            <a:avLst/>
          </a:prstGeom>
          <a:solidFill>
            <a:srgbClr val="F4F6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4069080"/>
            <a:ext cx="2560320" cy="1965960"/>
          </a:xfrm>
          <a:prstGeom prst="rect">
            <a:avLst/>
          </a:prstGeom>
          <a:solidFill>
            <a:srgbClr val="E8ECF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Satisfied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Closely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160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4160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Informed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60807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 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 rot="16200000">
            <a:off x="228600" y="2103120"/>
            <a:ext cx="3657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54864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this tool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stakeholder groups affected by governance changes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each on influence (low–high) and current support (resistant–champion)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on the matrix and tailor engagement tactics per quadrant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Revisit monthly as sentiment shifts through the program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Implementation Resources  |  Change Management Toolkit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Cadence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2377440"/>
                <a:gridCol w="2011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Audience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Message Focus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Frequency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Executive Sponsors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Strategic progress, risks, decisions needed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Steering committee briefing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Stewards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changes, role expectations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Working sessions + email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Bi-weekly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Business Users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What's changing, what's in it for them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Town halls, newsletter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Milestone-based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IT/Technical Teams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timelines, technical specs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Stand-ups, Slack/Teams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Weekly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Broader Organization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Awareness, success stories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Intranet, newsletter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Implementation Resources  |  Change Management Toolkit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Anticipate and Manage Resistance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of Resistance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 Tactic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"This adds extra work to my job"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Show time saved downstream; embed governance into existing workflows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"I don't understand why this is needed"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Connect to real incidents/costs avoided; share Current State Assessment findings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"Leadership isn't really behind this"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Visible, recurring executive sponsorship and communication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"This won't last — wait it out"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Tie governance metrics to performance reviews and operational reporting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Implementation Resources  |  Change Management Toolkit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Training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03520" cy="2103120"/>
          </a:xfrm>
          <a:prstGeom prst="roundRect">
            <a:avLst>
              <a:gd name="adj" fmla="val 3043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Strategic value, oversight responsibilities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45-min briefing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463040"/>
            <a:ext cx="5303520" cy="2103120"/>
          </a:xfrm>
          <a:prstGeom prst="roundRect">
            <a:avLst>
              <a:gd name="adj" fmla="val 3043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Stewards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0" y="214884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Standards, tooling, day-to-day workflows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880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Hands-on workshop series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303520" cy="2103120"/>
          </a:xfrm>
          <a:prstGeom prst="roundRect">
            <a:avLst>
              <a:gd name="adj" fmla="val 3043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Users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480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What changes in daily tasks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Microlearning + job aids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5303520" cy="2103120"/>
          </a:xfrm>
          <a:prstGeom prst="roundRect">
            <a:avLst>
              <a:gd name="adj" fmla="val 3043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9776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IT/Technical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44805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Integration points, technical standards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52120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Technical deep-dive sessions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Implementation Resources  |  Change Management Toolkit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CHANGE CHAMPION NETWORK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advocates accelerate adoption far faster than top-down mandates.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1214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1-2 respected volunteers per business unit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308152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 them with early access, talking points, and FAQs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04164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monthly champion sync to surface frontline feedback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983480"/>
            <a:ext cx="457200" cy="457200"/>
          </a:xfrm>
          <a:prstGeom prst="ellipse">
            <a:avLst/>
          </a:prstGeom>
          <a:solidFill>
            <a:srgbClr val="3F5B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983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500176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 and celebrate champion contributions publicly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Implementation Resources  |  Change Management Toolkit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Adoption, Not Just Activity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649224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Tells You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completion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Reach of enablement efforts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Policy/process compliance rate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Whether new behaviors are sticking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Stakeholder sentiment (pulse survey)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Emotional readiness and trust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Help desk / support ticket volume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Friction points needing attention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 network engagement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 of peer advocacy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2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Implementation Resources  |  Change Management Toolkit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F5B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REFERENCE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Management Checklist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9105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map completed and reviewed with sponsor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57984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756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plan drafted with channel and cadence per audience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426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 themes identified with mitigation tactics assigned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20954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training curriculum scheduled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591056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5087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champion network recruited and onboarded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2157984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20756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metrics baseline captured before go-live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2724912"/>
            <a:ext cx="237744" cy="237744"/>
          </a:xfrm>
          <a:prstGeom prst="rect">
            <a:avLst/>
          </a:prstGeom>
          <a:solidFill>
            <a:srgbClr val="FFFFFF"/>
          </a:solidFill>
          <a:ln w="19050">
            <a:solidFill>
              <a:srgbClr val="3F5B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264261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Reinforcement plan in place for first 90 days post-launch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Implementation Resources  |  Change Management Toolkit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 Management Toolkit</dc:title>
  <dc:subject>PptxGenJS Presentation</dc:subject>
  <dc:creator>Data Governance Program</dc:creator>
  <cp:lastModifiedBy>Data Governance Program</cp:lastModifiedBy>
  <cp:revision>1</cp:revision>
  <dcterms:created xsi:type="dcterms:W3CDTF">2026-06-30T20:18:53Z</dcterms:created>
  <dcterms:modified xsi:type="dcterms:W3CDTF">2026-06-30T20:18:53Z</dcterms:modified>
</cp:coreProperties>
</file>